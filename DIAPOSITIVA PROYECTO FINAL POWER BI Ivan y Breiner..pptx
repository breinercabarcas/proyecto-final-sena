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0E6FE-06BC-43FA-95AA-35777D1340D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628C1-D08E-4133-806B-0B502731AC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5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0628C1-D08E-4133-806B-0B502731AC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0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6.png"/><Relationship Id="rId7" Type="http://schemas.openxmlformats.org/officeDocument/2006/relationships/image" Target="../media/image29.png"/><Relationship Id="rId12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79.png"/><Relationship Id="rId21" Type="http://schemas.openxmlformats.org/officeDocument/2006/relationships/image" Target="../media/image97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image" Target="../media/image1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07.png"/><Relationship Id="rId7" Type="http://schemas.openxmlformats.org/officeDocument/2006/relationships/image" Target="../media/image1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3629"/>
            <a:ext cx="19621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13770"/>
            <a:ext cx="6400800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1143000"/>
            <a:ext cx="4267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29879"/>
            <a:ext cx="672084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0" i="0" u="none" dirty="0">
                <a:solidFill>
                  <a:srgbClr val="FFFFFF"/>
                </a:solidFill>
                <a:latin typeface="Poppins ExtraBold"/>
              </a:rPr>
              <a:t>Análisis y Visualización de Datos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61295"/>
            <a:ext cx="6400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Transformación de datos comerciales en dashboards interactivos para la toma de decisiones estratégicas.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1734591"/>
            <a:ext cx="13335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413795"/>
            <a:ext cx="312896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Institución &amp; Programa</a:t>
            </a:r>
            <a:r>
              <a:rPr sz="105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[</a:t>
            </a:r>
            <a:r>
              <a:rPr lang="es-CO" sz="1050" b="0" i="0" u="none" dirty="0" smtClean="0">
                <a:solidFill>
                  <a:srgbClr val="F8FAFC"/>
                </a:solidFill>
                <a:latin typeface="Inter Medium"/>
              </a:rPr>
              <a:t>Centro Nacional Colombo Aléman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/ Pr</a:t>
            </a:r>
            <a:r>
              <a:rPr lang="es-CO" sz="1050" b="0" i="0" u="none" dirty="0" smtClean="0">
                <a:solidFill>
                  <a:srgbClr val="F8FAFC"/>
                </a:solidFill>
                <a:latin typeface="Inter Medium"/>
              </a:rPr>
              <a:t>ogramación para analítica de datos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]</a:t>
            </a:r>
            <a:endParaRPr sz="1050" b="0" i="0" u="none" dirty="0">
              <a:solidFill>
                <a:srgbClr val="F8FAFC"/>
              </a:solidFill>
              <a:latin typeface="Inter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3337" y="4413795"/>
            <a:ext cx="312896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Asignatura</a:t>
            </a:r>
            <a:r>
              <a:rPr sz="105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[</a:t>
            </a:r>
            <a:r>
              <a:rPr lang="es-CO" sz="1050" dirty="0" smtClean="0">
                <a:solidFill>
                  <a:srgbClr val="F8FAFC"/>
                </a:solidFill>
                <a:latin typeface="Inter Medium"/>
              </a:rPr>
              <a:t>Técnica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]</a:t>
            </a:r>
            <a:endParaRPr sz="1050" b="0" i="0" u="none" dirty="0">
              <a:solidFill>
                <a:srgbClr val="F8FAFC"/>
              </a:solidFill>
              <a:latin typeface="Inter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4880520"/>
            <a:ext cx="312896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Integrantes</a:t>
            </a:r>
            <a:r>
              <a:rPr sz="105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[</a:t>
            </a:r>
            <a:r>
              <a:rPr lang="es-CO" sz="1050" dirty="0" smtClean="0">
                <a:solidFill>
                  <a:srgbClr val="F8FAFC"/>
                </a:solidFill>
                <a:latin typeface="Inter Medium"/>
              </a:rPr>
              <a:t>Ivan Orozco – Breiner Cabarcas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]</a:t>
            </a:r>
            <a:endParaRPr sz="1050" b="0" i="0" u="none" dirty="0">
              <a:solidFill>
                <a:srgbClr val="F8FAFC"/>
              </a:solidFill>
              <a:latin typeface="Inter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3337" y="4880520"/>
            <a:ext cx="312896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 SemiBold"/>
              </a:rPr>
              <a:t>Docente 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[</a:t>
            </a:r>
            <a:r>
              <a:rPr lang="es-CO" sz="1050" dirty="0" smtClean="0">
                <a:solidFill>
                  <a:srgbClr val="F8FAFC"/>
                </a:solidFill>
                <a:latin typeface="Inter Medium"/>
              </a:rPr>
              <a:t>Jhonatan Robledo</a:t>
            </a:r>
            <a:r>
              <a:rPr sz="1050" b="0" i="0" u="none" dirty="0" smtClean="0">
                <a:solidFill>
                  <a:srgbClr val="F8FAFC"/>
                </a:solidFill>
                <a:latin typeface="Inter Medium"/>
              </a:rPr>
              <a:t>] •</a:t>
            </a:r>
            <a:endParaRPr sz="1050" b="0" i="0" u="none" dirty="0">
              <a:solidFill>
                <a:srgbClr val="F8FAFC"/>
              </a:solidFill>
              <a:latin typeface="Inter Medium"/>
            </a:endParaRPr>
          </a:p>
        </p:txBody>
      </p:sp>
      <p:pic>
        <p:nvPicPr>
          <p:cNvPr id="1028" name="Picture 4" descr="Cursos Power BI - Dayd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43000"/>
            <a:ext cx="432816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3520"/>
            <a:ext cx="5334000" cy="3127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13520"/>
            <a:ext cx="5334000" cy="3127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474541"/>
            <a:ext cx="4743450" cy="9477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286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508795"/>
            <a:ext cx="4980622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2C811"/>
                </a:solidFill>
                <a:latin typeface="Poppins SemiBold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74466"/>
            <a:ext cx="4743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Las organizaciones generan grandes volúmenes de datos comerciales, pero mantenerlos en tablas desorganizadas o archivos planos dificulta su análisis.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508795"/>
            <a:ext cx="4980622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2C811"/>
                </a:solidFill>
                <a:latin typeface="Poppins SemiBold"/>
              </a:rPr>
              <a:t>La 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874466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Implementación de Inteligencia de Negocios con Power BI para transformar datos tabulares en paneles visuales interactivos.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1832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1575" y="367456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Complejidad para identificar productos más vendidos.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1575" y="405556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Dificultad para visualizar tendencias de mercado.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4436566"/>
            <a:ext cx="4438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Poca claridad sobre participación geográfica y clientes clave.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518320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34175" y="3626941"/>
            <a:ext cx="44386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F8FAFC"/>
                </a:solidFill>
                <a:latin typeface="Inter"/>
              </a:rPr>
              <a:t>Pregunta Principal:</a:t>
            </a:r>
            <a:r>
              <a:rPr sz="1125" b="0" i="0" u="none" dirty="0">
                <a:solidFill>
                  <a:srgbClr val="F8FAFC"/>
                </a:solidFill>
                <a:latin typeface="Inter"/>
              </a:rPr>
              <a:t> ¿Cómo utilizar Power BI para transformar datos de ventas en información visual que permita analizar el comportamiento comercial y facilitar la toma de decisiones?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698378"/>
            <a:ext cx="12382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079378"/>
            <a:ext cx="12382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460378"/>
            <a:ext cx="12382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2975" y="476250"/>
            <a:ext cx="1121140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Poppins"/>
              </a:rPr>
              <a:t>Del Dato a la Decisión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75" y="1750814"/>
            <a:ext cx="23812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55707" y="2227064"/>
            <a:ext cx="4680585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FFFFFF"/>
                </a:solidFill>
                <a:latin typeface="Poppins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44354"/>
            <a:ext cx="85725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F8FAFC"/>
                </a:solidFill>
                <a:latin typeface="Inter"/>
              </a:rPr>
              <a:t>Desarrollar un </a:t>
            </a:r>
            <a:r>
              <a:rPr sz="1800" b="0" i="0" u="none" dirty="0">
                <a:solidFill>
                  <a:srgbClr val="F2C811"/>
                </a:solidFill>
                <a:latin typeface="Inter"/>
              </a:rPr>
              <a:t>Dashboard interactivo en Power BI</a:t>
            </a:r>
            <a:r>
              <a:rPr sz="1800" b="0" i="0" u="none" dirty="0">
                <a:solidFill>
                  <a:srgbClr val="F8FAFC"/>
                </a:solidFill>
                <a:latin typeface="Inter"/>
              </a:rPr>
              <a:t> que permita </a:t>
            </a:r>
            <a:r>
              <a:rPr sz="1800" b="0" i="0" u="none" dirty="0">
                <a:solidFill>
                  <a:srgbClr val="F2C811"/>
                </a:solidFill>
                <a:latin typeface="Inter"/>
              </a:rPr>
              <a:t>analizar y visualizar</a:t>
            </a:r>
            <a:r>
              <a:rPr sz="1800" b="0" i="0" u="none" dirty="0">
                <a:solidFill>
                  <a:srgbClr val="F8FAFC"/>
                </a:solidFill>
                <a:latin typeface="Inter"/>
              </a:rPr>
              <a:t> información relacionada con las ventas, facilitando la interpretación de los datos y la identificación de resultados relevantes para la </a:t>
            </a:r>
            <a:r>
              <a:rPr sz="1800" b="0" i="0" u="none" dirty="0">
                <a:solidFill>
                  <a:srgbClr val="F2C811"/>
                </a:solidFill>
                <a:latin typeface="Inter"/>
              </a:rPr>
              <a:t>toma de decisiones</a:t>
            </a:r>
            <a:r>
              <a:rPr sz="18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831776"/>
            <a:ext cx="133350" cy="12382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05992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Ruta metodológica de 7 pasos para el desarrollo exitoso del proyecto: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4163317"/>
            <a:ext cx="10287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035" y="350609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4498" y="4182367"/>
            <a:ext cx="752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1. Preparar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Organizar el conjunto de datos inicial.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506" y="350609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96306" y="4182367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2. Limpiar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6171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Transformar y depurar la información.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0977" y="350609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41440" y="4182367"/>
            <a:ext cx="752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3. Modelar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4642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Construir el modelo relacional.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448" y="3506092"/>
            <a:ext cx="533400" cy="53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7523" y="4182367"/>
            <a:ext cx="857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4. Visualizar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3113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Crear indicadores y gráficos.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919" y="3506092"/>
            <a:ext cx="533400" cy="533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07894" y="4182367"/>
            <a:ext cx="933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5. Interactuar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584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Incorporar filtros y segmentadores.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391" y="3506092"/>
            <a:ext cx="533400" cy="533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76853" y="4182367"/>
            <a:ext cx="752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6. Analizar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055" y="4420492"/>
            <a:ext cx="14260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Evaluar hallazgos obtenidos.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4862" y="3506092"/>
            <a:ext cx="533400" cy="533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64849" y="4182367"/>
            <a:ext cx="733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7. Concluir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8526" y="4420492"/>
            <a:ext cx="1426071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Generar recomendaciones de negocio.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010" y="3677542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9669" y="3677542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8615" y="3677542"/>
            <a:ext cx="2381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6611" y="3677542"/>
            <a:ext cx="2190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9369" y="3677542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7841" y="3677542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0124" y="3677542"/>
            <a:ext cx="14287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Poppins"/>
              </a:rPr>
              <a:t>Objetivos Específicos</a:t>
            </a:r>
          </a:p>
        </p:txBody>
      </p:sp>
      <p:sp>
        <p:nvSpPr>
          <p:cNvPr id="35" name="CuadroTexto 34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8820"/>
            <a:ext cx="3524250" cy="26516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708820"/>
            <a:ext cx="3524250" cy="26516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708820"/>
            <a:ext cx="3524250" cy="26516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94470"/>
            <a:ext cx="5991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Disciplina clave para convertir variables no estructuradas en ventajas competitivas: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985045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3766095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El Flujo Analítico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31766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Datos → Preparación → Análisis → Visualización → Decisiones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684216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Estructura lógica aplicada para transformar registros crudos en conocimiento accionable.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2985045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0100" y="3766095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Identificación de Patrones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131766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Permite descubrir comportamientos recurrentes, anomalías, estacionalidades y tendencias comerciales ocultas en el histórico.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985045"/>
            <a:ext cx="60960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2475" y="3766095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Estudio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475" y="4131766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En este proyecto, la analítica es el motor fundamental para entender la salud financiera, volumen de unidades y rendimiento de clientes.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" y="3108870"/>
            <a:ext cx="409575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3925" y="3108870"/>
            <a:ext cx="361950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6300" y="3108870"/>
            <a:ext cx="361950" cy="3619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Analítica de Datos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7370"/>
            <a:ext cx="5334000" cy="2480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37370"/>
            <a:ext cx="5334000" cy="2480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832645"/>
            <a:ext cx="4980622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¿Qué es BI?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198316"/>
            <a:ext cx="4743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Conjunto de estrategias, tecnologías y arquitecturas enfocadas en la administración y análisis de conocimiento sobre el funcionamiento de una organización.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832645"/>
            <a:ext cx="4980622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2C811"/>
                </a:solidFill>
                <a:latin typeface="Poppins SemiBold"/>
              </a:rPr>
              <a:t>Capacidades Clave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4217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1312" y="4074616"/>
            <a:ext cx="714375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842170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6575" y="3198316"/>
            <a:ext cx="4438650" cy="439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Integración: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s-MX" sz="1200" dirty="0">
                <a:solidFill>
                  <a:srgbClr val="94A3B8"/>
                </a:solidFill>
                <a:latin typeface="Inter"/>
              </a:rPr>
              <a:t>Reúne información de diferentes fuentes en un solo </a:t>
            </a:r>
            <a:r>
              <a:rPr lang="es-MX" sz="1200" dirty="0" smtClean="0">
                <a:solidFill>
                  <a:srgbClr val="94A3B8"/>
                </a:solidFill>
                <a:latin typeface="Inter"/>
              </a:rPr>
              <a:t>lugar</a:t>
            </a:r>
            <a:r>
              <a:rPr sz="1200" b="0" i="0" u="none" dirty="0" smtClean="0">
                <a:solidFill>
                  <a:srgbClr val="94A3B8"/>
                </a:solidFill>
                <a:latin typeface="Inter"/>
              </a:rPr>
              <a:t>.</a:t>
            </a:r>
            <a:endParaRPr sz="12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2761" y="3632584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Modelado: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Establece relaciones lógicas entre tablas.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39603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Indicadores: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Genera métricas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estandarizadas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(KPIs).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3413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Visualización: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Representa dinámicamente la información.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222128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317" y="3656396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984128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4365128"/>
            <a:ext cx="152400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5375" y="476250"/>
            <a:ext cx="1105138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Poppins"/>
              </a:rPr>
              <a:t>Business Intelligence (BI)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4995"/>
            <a:ext cx="3524250" cy="2384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584995"/>
            <a:ext cx="3524250" cy="2384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584995"/>
            <a:ext cx="3524250" cy="23849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861220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64227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ETL &amp; Modelado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0794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Importación masiva, limpieza avanzada con Power Query y construcción del modelo relacional de datos.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286122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0100" y="364227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2C811"/>
                </a:solidFill>
                <a:latin typeface="Poppins SemiBold"/>
              </a:rPr>
              <a:t>Cálculo con DAX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400794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Creación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medidas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explícitas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e indicadores analíticos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complejos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para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evaluar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la rentabilidad.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2861220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2475" y="364227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2C811"/>
                </a:solidFill>
                <a:latin typeface="Poppins SemiBold"/>
              </a:rPr>
              <a:t>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400794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Diseño de soluciones visuales interactivas, dinámicas y personalizadas para los usuarios de negocio.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2985045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6787" y="2985045"/>
            <a:ext cx="27622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2487" y="2985045"/>
            <a:ext cx="409575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1075" y="476250"/>
            <a:ext cx="1117139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Poppins"/>
              </a:rPr>
              <a:t>Herramienta: Microsoft Power BI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4070"/>
            <a:ext cx="3524250" cy="2413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04070"/>
            <a:ext cx="3524250" cy="24135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804070"/>
            <a:ext cx="3524250" cy="24135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337345"/>
            <a:ext cx="7791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Un Dashboard resume visualmente métricas clave. El proyecto implementa </a:t>
            </a:r>
            <a:r>
              <a:rPr sz="1200" b="1" i="0" u="none" dirty="0">
                <a:solidFill>
                  <a:srgbClr val="F2C811"/>
                </a:solidFill>
                <a:latin typeface="Inter"/>
              </a:rPr>
              <a:t>3 Dashboards interconectados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108870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388992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1. Ventas Totales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25559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Análisis macro del comportamiento comercial, costos, márgenes globales y tendencia temporal.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3108870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0100" y="388992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2. Productos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25559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Desglose detallado por subcategorías, rendimiento de marcas y utilidad de catálogo.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3108870"/>
            <a:ext cx="6096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72475" y="3889920"/>
            <a:ext cx="312039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3. 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2475" y="4255591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Análisis de cartera de compradores, concentración geográfica y volúmenes por región.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987" y="3232695"/>
            <a:ext cx="21907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3232695"/>
            <a:ext cx="45720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8675" y="3232695"/>
            <a:ext cx="457200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Estructura del Solucionario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7305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90676"/>
            <a:ext cx="2595562" cy="1200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37" y="2790676"/>
            <a:ext cx="2595562" cy="1200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33701"/>
            <a:ext cx="2595562" cy="1200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37" y="4133701"/>
            <a:ext cx="2595562" cy="1200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777305"/>
            <a:ext cx="560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Visión General Financiera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14297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Permite monitorear la evolución del negocio en el tiempo y el margen de ganancia global.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3376463"/>
            <a:ext cx="2576512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575" y="3009751"/>
            <a:ext cx="2157412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Ventas Totales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414564"/>
            <a:ext cx="21574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390,34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462" y="3376463"/>
            <a:ext cx="2576512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012" y="3009751"/>
            <a:ext cx="2157412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Costos Totales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6468" y="3429000"/>
            <a:ext cx="21574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195,97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4719488"/>
            <a:ext cx="2576512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575" y="4352776"/>
            <a:ext cx="2157412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Unidades Vendidas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732053"/>
            <a:ext cx="21574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77 mil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9462" y="4719488"/>
            <a:ext cx="2576512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9012" y="4352776"/>
            <a:ext cx="2157412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Margen Ganancia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1898" y="4762351"/>
            <a:ext cx="21574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49,8 %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7487" y="3009751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550" y="3009751"/>
            <a:ext cx="14287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8912" y="4352776"/>
            <a:ext cx="21907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025" y="4352776"/>
            <a:ext cx="1524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Dashboard 1 — Ventas Totales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8369" y="1429304"/>
            <a:ext cx="5933131" cy="4438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27695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41066"/>
            <a:ext cx="5334000" cy="1200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84091"/>
            <a:ext cx="5334000" cy="1200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27116"/>
            <a:ext cx="5334000" cy="1200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9530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327695"/>
            <a:ext cx="560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Análisis de Catálogo y Rentabilidad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69336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Profundiza en las subcategorías, marcas principales y la relación entre unidades vendidas y utilidad generada.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2926853"/>
            <a:ext cx="5314950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575" y="2560141"/>
            <a:ext cx="4895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Total de Productos </a:t>
            </a:r>
            <a:r>
              <a:rPr sz="1200" b="0" i="0" u="none" dirty="0" err="1">
                <a:solidFill>
                  <a:srgbClr val="94A3B8"/>
                </a:solidFill>
                <a:latin typeface="Inter Medium"/>
              </a:rPr>
              <a:t>Activos</a:t>
            </a:r>
            <a:endParaRPr sz="1200" b="0" i="0" u="none" dirty="0">
              <a:solidFill>
                <a:srgbClr val="94A3B8"/>
              </a:solidFill>
              <a:latin typeface="Inter Mediu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2950" y="2955428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FFFFF"/>
                </a:solidFill>
                <a:latin typeface="Poppins"/>
              </a:rPr>
              <a:t>130 Productos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4269878"/>
            <a:ext cx="5314950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575" y="3903166"/>
            <a:ext cx="4895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Marcas </a:t>
            </a:r>
            <a:r>
              <a:rPr sz="1200" b="0" i="0" u="none" dirty="0" err="1">
                <a:solidFill>
                  <a:srgbClr val="94A3B8"/>
                </a:solidFill>
                <a:latin typeface="Inter Medium"/>
              </a:rPr>
              <a:t>Comercializadas</a:t>
            </a:r>
            <a:endParaRPr sz="1200" b="0" i="0" u="none" dirty="0">
              <a:solidFill>
                <a:srgbClr val="94A3B8"/>
              </a:solidFill>
              <a:latin typeface="Inter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2950" y="4269878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FFFFF"/>
                </a:solidFill>
                <a:latin typeface="Poppins"/>
              </a:rPr>
              <a:t>20 Marcas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5612903"/>
            <a:ext cx="5314950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575" y="5246191"/>
            <a:ext cx="4895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Utilidad </a:t>
            </a:r>
            <a:r>
              <a:rPr sz="1200" b="0" i="0" u="none" dirty="0" err="1">
                <a:solidFill>
                  <a:srgbClr val="94A3B8"/>
                </a:solidFill>
                <a:latin typeface="Inter Medium"/>
              </a:rPr>
              <a:t>Promedio</a:t>
            </a:r>
            <a:endParaRPr sz="1200" b="0" i="0" u="none" dirty="0">
              <a:solidFill>
                <a:srgbClr val="94A3B8"/>
              </a:solidFill>
              <a:latin typeface="Inter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2950" y="561012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2,51 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975" y="2560141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925" y="3903166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5925" y="5246191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7275" y="476250"/>
            <a:ext cx="1109138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Dashboard 2 — Productos</a:t>
            </a:r>
          </a:p>
        </p:txBody>
      </p:sp>
      <p:sp>
        <p:nvSpPr>
          <p:cNvPr id="24" name="CuadroTexto 23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7900" y="1327694"/>
            <a:ext cx="5939040" cy="48067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7305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90676"/>
            <a:ext cx="5334000" cy="1200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0" y="1777305"/>
            <a:ext cx="560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Distribución Geográfica y Cartera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14297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Permite analizar el peso específico de cada cliente y la penetración comercial en diferentes regiones geográficas.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376463"/>
            <a:ext cx="5314950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5575" y="3009751"/>
            <a:ext cx="4895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Cartera Total Registrada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376463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FFFFF"/>
                </a:solidFill>
                <a:latin typeface="Poppins"/>
              </a:rPr>
              <a:t>74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4181326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Top 10 Clientes: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Identificación de compradores estratégicos.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562326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Distribución Global: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Mapeo interactivo por países y continentes.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4943326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Búsqueda Dinámica: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Filtros individuales por nombre de cliente.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3009751"/>
            <a:ext cx="2381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205138"/>
            <a:ext cx="1905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4586138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4967138"/>
            <a:ext cx="17145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5375" y="476250"/>
            <a:ext cx="1105138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Dashboard 3 — Clientes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77" y="1417140"/>
            <a:ext cx="5889224" cy="4717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77305"/>
            <a:ext cx="56007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Filtros y Segmentadores Dinámicos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4297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Permite adaptar las visualizaciones en tiempo real para análisis de causa-raíz y comparativas directas.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90676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F8FAFC"/>
                </a:solidFill>
                <a:latin typeface="Inter SemiBold"/>
              </a:rPr>
              <a:t>Filtros Implementados: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67026"/>
            <a:ext cx="5334000" cy="62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14526"/>
            <a:ext cx="762000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3114526"/>
            <a:ext cx="1219200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114526"/>
            <a:ext cx="790575" cy="333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025" y="3114526"/>
            <a:ext cx="933450" cy="333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3114526"/>
            <a:ext cx="1085850" cy="3333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43151"/>
            <a:ext cx="962025" cy="3333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219301"/>
            <a:ext cx="1143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9725" y="3219301"/>
            <a:ext cx="13335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4175" y="3219301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0" y="3219301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8700" y="3219301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3647926"/>
            <a:ext cx="114300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Poppins"/>
              </a:rPr>
              <a:t>Exploración Interactiva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0" y="1802402"/>
            <a:ext cx="1676634" cy="1267002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5183" y="1802402"/>
            <a:ext cx="1676634" cy="1267002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79281" y="1777305"/>
            <a:ext cx="1733792" cy="1298417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3645557"/>
            <a:ext cx="1733792" cy="1409897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5963" y="3641751"/>
            <a:ext cx="1655854" cy="1413703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69754" y="3641751"/>
            <a:ext cx="1757467" cy="14137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9530"/>
            <a:ext cx="3429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2980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Proceso ETL ejecutado en Power Query antes del modelado analítico: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4210942"/>
            <a:ext cx="10287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362515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38287" y="4301430"/>
            <a:ext cx="828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Importación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4539555"/>
            <a:ext cx="2609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Carga de archivos origen desde fuentes secundarias.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362515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52912" y="4301430"/>
            <a:ext cx="923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Organización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9950" y="4539555"/>
            <a:ext cx="2609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Asignación adecuada de tipos de datos y nombres.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425" y="362515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67562" y="4301430"/>
            <a:ext cx="619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Limpieza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539555"/>
            <a:ext cx="2609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Eliminación de duplicados y tratamiento de nulos.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675" y="3625155"/>
            <a:ext cx="533400" cy="53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86925" y="4301430"/>
            <a:ext cx="1104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Transformación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4450" y="4539555"/>
            <a:ext cx="2609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Estructuración de tablas óptimas para el modelo.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1187" y="3796605"/>
            <a:ext cx="1428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5337" y="3796605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7587" y="3796605"/>
            <a:ext cx="2190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9837" y="3796605"/>
            <a:ext cx="2190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75" y="476250"/>
            <a:ext cx="1109138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Paso 1 — Preparación y Transformación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7870"/>
            <a:ext cx="5334000" cy="2099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27870"/>
            <a:ext cx="5334000" cy="2099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023145"/>
            <a:ext cx="4980622" cy="25137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Modelo Relacional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388816"/>
            <a:ext cx="4743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Estructura de modelo en estrella/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copo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de nieve conectando tablas de hechos (Ventas) con tablas dimensionales (Productos, Clientes, Geografía, Tiempo).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217491"/>
            <a:ext cx="4743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Garantiza integridad referencial y velocidad de cómputo en las consultas.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23145"/>
            <a:ext cx="4980622" cy="25137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 err="1">
                <a:solidFill>
                  <a:srgbClr val="F2C811"/>
                </a:solidFill>
                <a:latin typeface="Poppins SemiBold"/>
              </a:rPr>
              <a:t>Medidas</a:t>
            </a: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 e Indicadores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032670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32670"/>
            <a:ext cx="1619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86575" y="3388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Ventas &amp; Costos Totales: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Suma explícita de montos.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3769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Margen de Ganancia %: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Divide Utilidad sobre Ventas.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4150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F8FAFC"/>
                </a:solidFill>
                <a:latin typeface="Inter"/>
              </a:rPr>
              <a:t>Conteo Único: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Total Clientes y Productos evaluados.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412628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793628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174628"/>
            <a:ext cx="15240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5375" y="476250"/>
            <a:ext cx="1105138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Paso 2 — Modelado y </a:t>
            </a:r>
            <a:r>
              <a:rPr sz="2700" b="1" i="0" u="none" dirty="0" err="1">
                <a:solidFill>
                  <a:srgbClr val="FFFFFF"/>
                </a:solidFill>
                <a:latin typeface="Poppins"/>
              </a:rPr>
              <a:t>Medidas</a:t>
            </a:r>
            <a:r>
              <a:rPr sz="2700" b="1" i="0" u="none" dirty="0">
                <a:solidFill>
                  <a:srgbClr val="FFFFFF"/>
                </a:solidFill>
                <a:latin typeface="Poppins"/>
              </a:rPr>
              <a:t> DAX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9530"/>
            <a:ext cx="3429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96492"/>
            <a:ext cx="5400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Secuencia lógica implementada hasta la entrega del dashboard interactivo: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4187130"/>
            <a:ext cx="10287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744217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0625" y="4420492"/>
            <a:ext cx="971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Datos Limpios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3744217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7562" y="4420492"/>
            <a:ext cx="1057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Modelo Creado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744217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29275" y="4420492"/>
            <a:ext cx="933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Inter SemiBold"/>
              </a:rPr>
              <a:t>Medidas DAX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3744217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0487" y="4420492"/>
            <a:ext cx="1190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F8FAFC"/>
                </a:solidFill>
                <a:latin typeface="Inter SemiBold"/>
              </a:rPr>
              <a:t>Gráficos &amp; Filtros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900" y="3744217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53625" y="4420492"/>
            <a:ext cx="1123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0B981"/>
                </a:solidFill>
                <a:latin typeface="Inter SemiBold"/>
              </a:rPr>
              <a:t>Dashboard Final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675" y="3915667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950" y="391566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550" y="3915667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6062" y="3915667"/>
            <a:ext cx="2190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7275" y="476250"/>
            <a:ext cx="1109138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Paso 3 — Visualización Final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2155"/>
            <a:ext cx="2619375" cy="120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482155"/>
            <a:ext cx="2619375" cy="1200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482155"/>
            <a:ext cx="2619375" cy="1200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2482155"/>
            <a:ext cx="2619375" cy="1200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72805"/>
            <a:ext cx="2619375" cy="1200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3872805"/>
            <a:ext cx="2619375" cy="1200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872805"/>
            <a:ext cx="2619375" cy="1200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3872805"/>
            <a:ext cx="2619375" cy="1200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342900" cy="30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1025" y="306794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575" y="270123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Ventas Totales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093434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390,34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06794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450" y="270123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Costos Totales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0518" y="308699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195,97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775" y="306794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0325" y="270123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Unidades Vendidas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08699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FFFFF"/>
                </a:solidFill>
                <a:latin typeface="Poppins"/>
              </a:rPr>
              <a:t>77.000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0650" y="306794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0200" y="270123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Margen Ganancia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240" y="306794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49,8 %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45859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575" y="409188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Total Productos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445859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130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0900" y="445859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00450" y="409188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Total Marcas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0518" y="4487167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0775" y="445859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0325" y="409188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Utilidad </a:t>
            </a:r>
            <a:r>
              <a:rPr sz="1200" b="0" i="0" u="none" dirty="0" err="1">
                <a:solidFill>
                  <a:srgbClr val="94A3B8"/>
                </a:solidFill>
                <a:latin typeface="Inter Medium"/>
              </a:rPr>
              <a:t>Promedio</a:t>
            </a:r>
            <a:endParaRPr sz="1200" b="0" i="0" u="none" dirty="0">
              <a:solidFill>
                <a:srgbClr val="94A3B8"/>
              </a:solidFill>
              <a:latin typeface="Inter Medium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15075" y="445859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2,51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0650" y="4458592"/>
            <a:ext cx="2600325" cy="28575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20200" y="4091880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Medium"/>
              </a:rPr>
              <a:t>Total Clientes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0662" y="4458592"/>
            <a:ext cx="2181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oppins"/>
              </a:rPr>
              <a:t>74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2701230"/>
            <a:ext cx="11430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175" y="2701230"/>
            <a:ext cx="19050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425" y="2701230"/>
            <a:ext cx="238125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2350" y="2701230"/>
            <a:ext cx="219075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1300" y="4091880"/>
            <a:ext cx="19050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550" y="4091880"/>
            <a:ext cx="238125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1050" y="4091880"/>
            <a:ext cx="19050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63300" y="4091880"/>
            <a:ext cx="238125" cy="190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7275" y="476250"/>
            <a:ext cx="1109138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Resultados en </a:t>
            </a:r>
            <a:r>
              <a:rPr sz="2700" b="1" i="0" u="none" dirty="0" err="1">
                <a:solidFill>
                  <a:srgbClr val="FFFFFF"/>
                </a:solidFill>
                <a:latin typeface="Poppins"/>
              </a:rPr>
              <a:t>Cifras</a:t>
            </a:r>
            <a:endParaRPr sz="270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8383"/>
            <a:ext cx="3524250" cy="24583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48383"/>
            <a:ext cx="3524250" cy="24583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48383"/>
            <a:ext cx="3524250" cy="24583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953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8825" y="2853183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605658"/>
            <a:ext cx="29718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>
                <a:solidFill>
                  <a:srgbClr val="F2C811"/>
                </a:solidFill>
                <a:latin typeface="Inter"/>
              </a:rPr>
              <a:t>MAYOR FACTURACIÓN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429" y="3839021"/>
            <a:ext cx="312039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 dirty="0">
                <a:solidFill>
                  <a:srgbClr val="F2C811"/>
                </a:solidFill>
                <a:latin typeface="Poppins SemiBold"/>
              </a:rPr>
              <a:t>Queso Brie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273301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 i="0" u="none">
                <a:solidFill>
                  <a:srgbClr val="FFFFFF"/>
                </a:solidFill>
                <a:latin typeface="Inter"/>
              </a:rPr>
              <a:t>≈ 3,8 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2853183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0100" y="3605658"/>
            <a:ext cx="29718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>
                <a:solidFill>
                  <a:srgbClr val="38BDF8"/>
                </a:solidFill>
                <a:latin typeface="Inter"/>
              </a:rPr>
              <a:t>SUBCATEGORÍA 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805" y="3839021"/>
            <a:ext cx="312039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>
                <a:solidFill>
                  <a:srgbClr val="F2C811"/>
                </a:solidFill>
                <a:latin typeface="Poppins SemiBold"/>
              </a:rPr>
              <a:t>Carnes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4273301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 i="0" u="none">
                <a:solidFill>
                  <a:srgbClr val="FFFFFF"/>
                </a:solidFill>
                <a:latin typeface="Inter"/>
              </a:rPr>
              <a:t>≈ 84 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3575" y="2853183"/>
            <a:ext cx="60960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2475" y="3605658"/>
            <a:ext cx="29718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1" i="0" u="none" dirty="0">
                <a:solidFill>
                  <a:srgbClr val="10B981"/>
                </a:solidFill>
                <a:latin typeface="Inter"/>
              </a:rPr>
              <a:t>MARCA MÁS RENTABLE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180" y="3839021"/>
            <a:ext cx="312039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 dirty="0">
                <a:solidFill>
                  <a:srgbClr val="F2C811"/>
                </a:solidFill>
                <a:latin typeface="Poppins SemiBold"/>
              </a:rPr>
              <a:t>EnerGo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475" y="4273301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 i="0" u="none">
                <a:solidFill>
                  <a:srgbClr val="FFFFFF"/>
                </a:solidFill>
                <a:latin typeface="Inter"/>
              </a:rPr>
              <a:t>≈ 17,2 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8837" y="2977008"/>
            <a:ext cx="40957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5025" y="2977008"/>
            <a:ext cx="36195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1212" y="2977008"/>
            <a:ext cx="314325" cy="361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75" y="476250"/>
            <a:ext cx="1109138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FFFFFF"/>
                </a:solidFill>
                <a:latin typeface="Poppins"/>
              </a:rPr>
              <a:t>Podio</a:t>
            </a:r>
            <a:r>
              <a:rPr sz="2700" b="1" i="0" u="none" dirty="0">
                <a:solidFill>
                  <a:srgbClr val="FFFFFF"/>
                </a:solidFill>
                <a:latin typeface="Poppins"/>
              </a:rPr>
              <a:t> de Productos &amp; Marcas</a:t>
            </a:r>
          </a:p>
        </p:txBody>
      </p:sp>
      <p:sp>
        <p:nvSpPr>
          <p:cNvPr id="23" name="CuadroTexto 22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7870"/>
            <a:ext cx="5334000" cy="2099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27870"/>
            <a:ext cx="5334000" cy="2099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023145"/>
            <a:ext cx="4980622" cy="25137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Concentración de Ventas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23145"/>
            <a:ext cx="4980622" cy="2513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 dirty="0" err="1">
                <a:solidFill>
                  <a:srgbClr val="F2C811"/>
                </a:solidFill>
                <a:latin typeface="Poppins SemiBold"/>
              </a:rPr>
              <a:t>Cobertura</a:t>
            </a:r>
            <a:r>
              <a:rPr sz="1650" b="0" i="0" u="none" dirty="0">
                <a:solidFill>
                  <a:srgbClr val="F2C811"/>
                </a:solidFill>
                <a:latin typeface="Poppins SemiBold"/>
              </a:rPr>
              <a:t> de Clientes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88816"/>
            <a:ext cx="4743450" cy="911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s-MX" sz="1400" dirty="0">
                <a:solidFill>
                  <a:schemeClr val="bg1"/>
                </a:solidFill>
              </a:rPr>
              <a:t>Se identificaron 74 clientes importantes en diferentes partes del mundo, lo que permitió conocer en qué regiones tienen mayor presencia los productos y mejorar la distribución y entrega de los mismos.</a:t>
            </a:r>
            <a:endParaRPr sz="1400" b="0" i="0" u="none" dirty="0">
              <a:solidFill>
                <a:schemeClr val="bg1"/>
              </a:solidFill>
              <a:latin typeface="Int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032670"/>
            <a:ext cx="23812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1575" y="3388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Europa: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≈ 259 Millones </a:t>
            </a:r>
            <a:r>
              <a:rPr sz="1200" b="0" i="0" u="none">
                <a:solidFill>
                  <a:srgbClr val="F2C811"/>
                </a:solidFill>
                <a:latin typeface="Inter"/>
              </a:rPr>
              <a:t>(Líder)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5" y="3769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Asia: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≈ 111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150816"/>
            <a:ext cx="4438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América &amp; África: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≈ 10 M c/u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3267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412628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793628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4174628"/>
            <a:ext cx="17145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9175" y="476250"/>
            <a:ext cx="11131391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FFFFFF"/>
                </a:solidFill>
                <a:latin typeface="Poppins"/>
              </a:rPr>
              <a:t>Distribución Geográfica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287" y="476250"/>
            <a:ext cx="1495425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500" y="952500"/>
            <a:ext cx="8001000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7449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Estamos listos para resolver sus inquietudes sobre el desarrollo del proyecto, el uso de Power BI y los hallazgos analíticos.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2" y="557212"/>
            <a:ext cx="1619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2731740"/>
            <a:ext cx="1733550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175" y="2731740"/>
            <a:ext cx="1314450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6925" y="2731740"/>
            <a:ext cx="1924050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5275" y="2731740"/>
            <a:ext cx="1676400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3037" y="3179415"/>
            <a:ext cx="1685925" cy="333375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037" y="1820316"/>
            <a:ext cx="16859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2296566"/>
            <a:ext cx="9048750" cy="27411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912" y="1901279"/>
            <a:ext cx="104775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90725" y="2629941"/>
            <a:ext cx="82486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0" i="0" u="none" dirty="0">
                <a:solidFill>
                  <a:srgbClr val="F8FAFC"/>
                </a:solidFill>
                <a:latin typeface="Poppins Medium"/>
              </a:rPr>
              <a:t>"¿Qué decisiones estratégicas podrían tomarse si una organización tuviera acceso a esta información en tiempo real?"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2825" y="3561308"/>
            <a:ext cx="5429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Redirección inmediata de inventario hacia regiones con mayor rentabilidad.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2825" y="3942308"/>
            <a:ext cx="5429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Fidelización personalizada a los Top 10 clientes estratégicos.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2825" y="4323308"/>
            <a:ext cx="5429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Ajuste en tiempo real de márgenes sobre productos de menor desempeño.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585120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966120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4347120"/>
            <a:ext cx="171450" cy="180975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5658"/>
            <a:ext cx="110490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5052"/>
            <a:ext cx="3524250" cy="1272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65052"/>
            <a:ext cx="3524250" cy="127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565052"/>
            <a:ext cx="3524250" cy="12724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4275683"/>
            <a:ext cx="10648950" cy="5143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Conclusión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Principal:</a:t>
            </a:r>
            <a:r>
              <a:rPr sz="1350" b="0" i="0" u="none" dirty="0">
                <a:solidFill>
                  <a:srgbClr val="F8FAFC"/>
                </a:solidFill>
                <a:latin typeface="Inter"/>
              </a:rPr>
              <a:t> Power BI </a:t>
            </a:r>
            <a:r>
              <a:rPr sz="1350" b="0" i="0" u="none" dirty="0" err="1">
                <a:solidFill>
                  <a:srgbClr val="F8FAFC"/>
                </a:solidFill>
                <a:latin typeface="Inter"/>
              </a:rPr>
              <a:t>transforma</a:t>
            </a:r>
            <a:r>
              <a:rPr sz="1350" b="0" i="0" u="none" dirty="0">
                <a:solidFill>
                  <a:srgbClr val="F8FAFC"/>
                </a:solidFill>
                <a:latin typeface="Inter"/>
              </a:rPr>
              <a:t> datos </a:t>
            </a:r>
            <a:r>
              <a:rPr sz="1350" b="0" i="0" u="none" dirty="0" err="1">
                <a:solidFill>
                  <a:srgbClr val="F8FAFC"/>
                </a:solidFill>
                <a:latin typeface="Inter"/>
              </a:rPr>
              <a:t>masivos</a:t>
            </a:r>
            <a:r>
              <a:rPr sz="1350" b="0" i="0" u="none" dirty="0">
                <a:solidFill>
                  <a:srgbClr val="F8FAFC"/>
                </a:solidFill>
                <a:latin typeface="Inter"/>
              </a:rPr>
              <a:t> en información visual, clara e </a:t>
            </a:r>
            <a:r>
              <a:rPr sz="1350" b="0" i="0" u="none" dirty="0" err="1">
                <a:solidFill>
                  <a:srgbClr val="F8FAFC"/>
                </a:solidFill>
                <a:latin typeface="Inter"/>
              </a:rPr>
              <a:t>interactiva</a:t>
            </a:r>
            <a:r>
              <a:rPr sz="1350" b="0" i="0" u="none" dirty="0">
                <a:solidFill>
                  <a:srgbClr val="F8FAFC"/>
                </a:solidFill>
                <a:latin typeface="Inter"/>
              </a:rPr>
              <a:t>, facilitando la toma de decisiones estratégicas.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41277"/>
            <a:ext cx="312039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 dirty="0">
                <a:solidFill>
                  <a:srgbClr val="F2C811"/>
                </a:solidFill>
                <a:latin typeface="Poppins SemiBold"/>
              </a:rPr>
              <a:t>📈 Ventas Totales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61258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Visión </a:t>
            </a: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integrada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finanzas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, costos, unidades y margen </a:t>
            </a: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sostenido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del 49,8%.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841277"/>
            <a:ext cx="312039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 dirty="0">
                <a:solidFill>
                  <a:srgbClr val="38BDF8"/>
                </a:solidFill>
                <a:latin typeface="Poppins SemiBold"/>
              </a:rPr>
              <a:t>📦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161258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Identificación clara de drivers como Queso Brie, Carnes y la marca EnerGo.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475" y="2841277"/>
            <a:ext cx="312039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 dirty="0">
                <a:solidFill>
                  <a:srgbClr val="10B981"/>
                </a:solidFill>
                <a:latin typeface="Poppins SemiBold"/>
              </a:rPr>
              <a:t>👥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161258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s-MX" sz="1050" dirty="0">
                <a:solidFill>
                  <a:srgbClr val="94A3B8"/>
                </a:solidFill>
                <a:latin typeface="Inter"/>
              </a:rPr>
              <a:t>Identificación de 74 compradores importantes y predominio de las ventas en el mercado europeo.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4238288"/>
            <a:ext cx="1524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1075" y="476250"/>
            <a:ext cx="11171396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 err="1">
                <a:solidFill>
                  <a:srgbClr val="FFFFFF"/>
                </a:solidFill>
                <a:latin typeface="Poppins"/>
              </a:rPr>
              <a:t>Conclusiones</a:t>
            </a:r>
            <a:r>
              <a:rPr sz="2700" b="1" i="0" u="none" dirty="0">
                <a:solidFill>
                  <a:srgbClr val="FFFFFF"/>
                </a:solidFill>
                <a:latin typeface="Poppins"/>
              </a:rPr>
              <a:t> del Proyecto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0377997" y="6134470"/>
            <a:ext cx="2139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solidFill>
                  <a:schemeClr val="bg1"/>
                </a:solidFill>
              </a:rPr>
              <a:t>Iván Orozco</a:t>
            </a:r>
          </a:p>
          <a:p>
            <a:r>
              <a:rPr lang="es-CO" dirty="0" smtClean="0">
                <a:solidFill>
                  <a:schemeClr val="bg1"/>
                </a:solidFill>
              </a:rPr>
              <a:t>Breiner Cabarcas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1207</Words>
  <Application>Microsoft Office PowerPoint</Application>
  <PresentationFormat>Panorámica</PresentationFormat>
  <Paragraphs>211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Arial</vt:lpstr>
      <vt:lpstr>Calibri</vt:lpstr>
      <vt:lpstr>Inter</vt:lpstr>
      <vt:lpstr>Inter Medium</vt:lpstr>
      <vt:lpstr>Inter SemiBold</vt:lpstr>
      <vt:lpstr>Poppins</vt:lpstr>
      <vt:lpstr>Poppins ExtraBold</vt:lpstr>
      <vt:lpstr>Poppins Medium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SENA</dc:creator>
  <cp:keywords/>
  <dc:description>generated using python-pptx</dc:description>
  <cp:lastModifiedBy>SENA</cp:lastModifiedBy>
  <cp:revision>7</cp:revision>
  <dcterms:created xsi:type="dcterms:W3CDTF">2013-01-27T09:14:16Z</dcterms:created>
  <dcterms:modified xsi:type="dcterms:W3CDTF">2026-08-26T16:34:29Z</dcterms:modified>
  <cp:category/>
</cp:coreProperties>
</file>